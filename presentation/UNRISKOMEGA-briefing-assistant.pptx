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Ping to Pitch — AI Briefing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UNRISKOMEGA AG · Hackathon 2026</a:t>
            </a:r>
          </a:p>
          <a:p>
            <a:r>
              <a:t>A feature prototype inside a mocked URO Advisor Pro — never in the live URO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advisor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short-notice client call pulls data from many systems</a:t>
            </a:r>
          </a:p>
          <a:p>
            <a:pPr>
              <a:defRPr sz="1600"/>
            </a:pPr>
            <a:r>
              <a:t>  performance, allocation, suitability, rules, proposals, notes, news, house view</a:t>
            </a:r>
          </a:p>
          <a:p>
            <a:pPr>
              <a:defRPr sz="2000"/>
            </a:pPr>
            <a:r>
              <a:t>The information exists — but it is distributed</a:t>
            </a:r>
          </a:p>
          <a:p>
            <a:pPr>
              <a:defRPr sz="2000"/>
            </a:pPr>
            <a:r>
              <a:t>Building a coherent storyline by hand takes time advisors don't have</a:t>
            </a:r>
          </a:p>
          <a:p>
            <a:pPr>
              <a:defRPr sz="2000"/>
            </a:pPr>
            <a:r>
              <a:t>Goal: one click → a client-specific briefing readable in ~60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 and complete 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Advisor opens the client or portfolio in the mocked URO Advisor Pro</a:t>
            </a:r>
          </a:p>
          <a:p>
            <a:pPr>
              <a:defRPr sz="2000"/>
            </a:pPr>
            <a:r>
              <a:t>2. Clicks Generate Briefing — the only entry point</a:t>
            </a:r>
          </a:p>
          <a:p>
            <a:pPr>
              <a:defRPr sz="2000"/>
            </a:pPr>
            <a:r>
              <a:t>3. Pipeline: collect → analyse → rules → market → house view → actions → compose</a:t>
            </a:r>
          </a:p>
          <a:p>
            <a:pPr>
              <a:defRPr sz="2000"/>
            </a:pPr>
            <a:r>
              <a:t>4. Briefing screen: three sections, four answers, evidence traces, stage timings</a:t>
            </a:r>
          </a:p>
          <a:p>
            <a:pPr>
              <a:defRPr sz="2000"/>
            </a:pPr>
            <a:r>
              <a:t>5. Follow-up Q&amp;A and a printable one-pager reuse the same evidence bundle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60-second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Three sections: Recent Development · Health Check · Outlook &amp; Next Actions</a:t>
            </a:r>
          </a:p>
          <a:p>
            <a:pPr>
              <a:defRPr sz="2000"/>
            </a:pPr>
            <a:r>
              <a:t>Four answers: what happened / current situation / what next / what to do</a:t>
            </a:r>
          </a:p>
          <a:p>
            <a:pPr>
              <a:defRPr sz="2000"/>
            </a:pPr>
            <a:r>
              <a:t>Measured: 207–231 words, 62–69 seconds across all 48 clients (EN); 43 of 48 above 210-word budget</a:t>
            </a:r>
          </a:p>
          <a:p>
            <a:pPr>
              <a:defRPr sz="2000"/>
            </a:pPr>
            <a:r>
              <a:t>48 of 48 briefings have every evidence ref resolvable (per-question: what_happened_refs, situation_refs, next_refs, should_do_refs)</a:t>
            </a:r>
          </a:p>
          <a:p>
            <a:pPr>
              <a:defRPr sz="2000"/>
            </a:pPr>
            <a:r>
              <a:t>48 of 48 declare at least one information gap honestly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scenario — Lena Vogt (SCEN-001)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Private client, CHF 250'000 property purchase planned for 2027</a:t>
            </a:r>
          </a:p>
          <a:p>
            <a:pPr>
              <a:defRPr sz="2000"/>
            </a:pPr>
            <a:r>
              <a:t>Portfolio: 62% ASML, 18% Qualcomm, 15% CHF bonds, 5% cash</a:t>
            </a:r>
          </a:p>
          <a:p>
            <a:pPr>
              <a:defRPr sz="2000"/>
            </a:pPr>
            <a:r>
              <a:t>−11.90% over 12 months, −16.51% over 3 months</a:t>
            </a:r>
          </a:p>
          <a:p>
            <a:pPr>
              <a:defRPr sz="2000"/>
            </a:pPr>
            <a:r>
              <a:t>Risk profile MaxVola 0.075 vs portfolio volatility 0.184</a:t>
            </a:r>
          </a:p>
          <a:p>
            <a:pPr>
              <a:defRPr sz="2000"/>
            </a:pPr>
            <a:r>
              <a:t>62% EUR against a CHF base — currency concentration</a:t>
            </a:r>
          </a:p>
          <a:p>
            <a:pPr>
              <a:defRPr sz="2000"/>
            </a:pPr>
            <a:r>
              <a:t>Action #1: secure liquidity for the property purchase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briefing cannot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Per-position return attribution: no cost basis, no position history in the data</a:t>
            </a:r>
          </a:p>
          <a:p>
            <a:pPr>
              <a:defRPr sz="2000"/>
            </a:pPr>
            <a:r>
              <a:t>We report risk contribution instead and say so explicitly</a:t>
            </a:r>
          </a:p>
          <a:p>
            <a:pPr>
              <a:defRPr sz="2000"/>
            </a:pPr>
            <a:r>
              <a:t>Isolated vs market-wide move: no index or sector time series exists</a:t>
            </a:r>
          </a:p>
          <a:p>
            <a:pPr>
              <a:defRPr sz="2000"/>
            </a:pPr>
            <a:r>
              <a:t>Closest honest signals: sector-concentration finding and sector-specific headlines</a:t>
            </a:r>
          </a:p>
          <a:p>
            <a:pPr>
              <a:defRPr sz="2000"/>
            </a:pPr>
            <a:r>
              <a:t>Honesty over polish: gaps declared, numbers never invented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48 clients, 58 portfolios, 703 positions, 504 securities, 275 held ISINs</a:t>
            </a:r>
          </a:p>
          <a:p>
            <a:pPr>
              <a:defRPr sz="2000"/>
            </a:pPr>
            <a:r>
              <a:t>48'101 fund mappings, 180 suitability violations, 206 proposals</a:t>
            </a:r>
          </a:p>
          <a:p>
            <a:pPr>
              <a:defRPr sz="2000"/>
            </a:pPr>
            <a:r>
              <a:t>153 client notes across 53 distinct, 19-tag vocabulary, 54 rule rows</a:t>
            </a:r>
          </a:p>
          <a:p>
            <a:pPr>
              <a:defRPr sz="2000"/>
            </a:pPr>
            <a:r>
              <a:t>Market news: live fetch, phrase-cleaned, filtered to held equities, cached</a:t>
            </a:r>
          </a:p>
          <a:p>
            <a:pPr>
              <a:defRPr sz="2000"/>
            </a:pPr>
            <a:r>
              <a:t>House view: curated UBS CIO Market Outlook 2026 — declared mock in payload and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analysis and recommendation logic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16 finding types (the previous 14 plus sector_concentration and esg_alignment)</a:t>
            </a:r>
          </a:p>
          <a:p>
            <a:pPr>
              <a:defRPr sz="2000"/>
            </a:pPr>
            <a:r>
              <a:t>Named buy/sell/switch: 19 of 47 shipped clients get a nameable move; 18 of 48 render an instrument_candidate action</a:t>
            </a:r>
          </a:p>
          <a:p>
            <a:pPr>
              <a:defRPr sz="2000"/>
            </a:pPr>
            <a:r>
              <a:t>CASE-045: draft exits Novartis 41%, builds UBS SMI ETF; CASE-007 buys Swisscom + Nestlé for the Shares gap</a:t>
            </a:r>
          </a:p>
          <a:p>
            <a:pPr>
              <a:defRPr sz="2000"/>
            </a:pPr>
            <a:r>
              <a:t>CASE-007: fossil-fuel note excludes Exxon, TotalEnergies, Equinor — the exclusion is reported</a:t>
            </a:r>
          </a:p>
          <a:p>
            <a:pPr>
              <a:defRPr sz="2000"/>
            </a:pPr>
            <a:r>
              <a:t>sector_concentration: 15 of 48 clients fire (CASE-028 Financials 95.85%, SCEN-001 Information Technology 80.0%)</a:t>
            </a:r>
          </a:p>
          <a:p>
            <a:pPr>
              <a:defRPr sz="2000"/>
            </a:pPr>
            <a:r>
              <a:t>News: phrase-based cleaning (13 master rows), ASML 1→5 headlines, biggest-holding-first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3.12 + FastAPI backend; React 18 + Vite + TypeScript frontend</a:t>
            </a:r>
          </a:p>
          <a:p>
            <a:pPr>
              <a:defRPr sz="2000"/>
            </a:pPr>
            <a:r>
              <a:t>Keystone contract: BriefingFacts JSON — R3 produces, R4/R5/R6 consume</a:t>
            </a:r>
          </a:p>
          <a:p>
            <a:pPr>
              <a:defRPr sz="2000"/>
            </a:pPr>
            <a:r>
              <a:t>Bilingual EN/DE with identical findings and numbers</a:t>
            </a:r>
          </a:p>
          <a:p>
            <a:pPr>
              <a:defRPr sz="2000"/>
            </a:pPr>
            <a:r>
              <a:t>150 tests passing + 1 skipped, offline and deterministic</a:t>
            </a:r>
          </a:p>
          <a:p>
            <a:pPr>
              <a:defRPr sz="2000"/>
            </a:pPr>
            <a:r>
              <a:t>Evidence resolver gate, IBAN scan, diff-clean snapshot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data vs production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Mock: house/CIO view (declared in payload and UI), URO chrome, fictional clients</a:t>
            </a:r>
          </a:p>
          <a:p>
            <a:pPr>
              <a:defRPr sz="2000"/>
            </a:pPr>
            <a:r>
              <a:t>Real: instruments and live news for them; all portfolio maths from case data</a:t>
            </a:r>
          </a:p>
          <a:p>
            <a:pPr>
              <a:defRPr sz="2000"/>
            </a:pPr>
            <a:r>
              <a:t>Production would connect: URO APIs, licensed news feeds, internal CIO publications, bank CRM</a:t>
            </a:r>
          </a:p>
          <a:p>
            <a:pPr>
              <a:defRPr sz="2000"/>
            </a:pPr>
            <a:r>
              <a:t>31 mocked-UI defects fixed end-to-end and re-verified in the browser</a:t>
            </a:r>
          </a:p>
          <a:p>
            <a:pPr>
              <a:defRPr sz="2000"/>
            </a:pPr>
            <a:r>
              <a:t>Unseen-client drill: new client files upload, validate and brief without code changes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features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Ex-custody PDF import: virtual Fremdbanken portfolios behave like native ones</a:t>
            </a:r>
          </a:p>
          <a:p>
            <a:pPr>
              <a:defRPr sz="2000"/>
            </a:pPr>
            <a:r>
              <a:t>Interactive follow-up Q&amp;A: grounded answers, says unavailable when it must</a:t>
            </a:r>
          </a:p>
          <a:p>
            <a:pPr>
              <a:defRPr sz="2000"/>
            </a:pPr>
            <a:r>
              <a:t>Printable one-pager: client sheet with the same traceability</a:t>
            </a:r>
          </a:p>
          <a:p>
            <a:pPr>
              <a:defRPr sz="2000"/>
            </a:pPr>
            <a:r>
              <a:t>Named-instrument recommendations from Entwurf proposals and the recommendation list</a:t>
            </a:r>
          </a:p>
          <a:p>
            <a:pPr>
              <a:defRPr sz="2000"/>
            </a:pPr>
            <a:r>
              <a:t>Per-question evidence refs: what_happened_refs, situation_refs, next_refs, should_do_refs — all resolvable</a:t>
            </a:r>
          </a:p>
          <a:p>
            <a:pPr>
              <a:defRPr sz="2000"/>
            </a:pPr>
            <a:r>
              <a:t>ESG alignment finding: 1 of 48 clients breaches its floor (CASE-016, score 3.10 vs 5.714)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150 tests passing + 1 skipped</a:t>
            </a:r>
          </a:p>
          <a:p>
            <a:pPr>
              <a:defRPr sz="2000"/>
            </a:pPr>
            <a:r>
              <a:t>48-client harness with a diff-clean snapshot baseline</a:t>
            </a:r>
          </a:p>
          <a:p>
            <a:pPr>
              <a:defRPr sz="2000"/>
            </a:pPr>
            <a:r>
              <a:t>Evidence resolver gate passes over all 48 clients</a:t>
            </a:r>
          </a:p>
          <a:p>
            <a:pPr>
              <a:defRPr sz="2000"/>
            </a:pPr>
            <a:r>
              <a:t>IBAN scan, determinism check, browser re-verification in EN and DE</a:t>
            </a:r>
          </a:p>
          <a:p>
            <a:pPr>
              <a:defRPr sz="2000"/>
            </a:pPr>
            <a:r>
              <a:t>Demo clients: CASE-007, CASE-028, CASE-027, CASE-017, CASE-012, CASE-008, SCEN-001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