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67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briefing assistant inside the tool the advisor already uses. It prepares the advisor for an unexpected client call.
SHOW: nothing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brief names the problem. The information exists, but it sits in many systems.
SHOW: the mocked dashboard with the client list.
NOTE: the 20–30 minute baseline is the brief's figure, not our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trigger is a button where the advisor already is.
SHOW: click Create briefing on Mary Poppins (CASE-007) — live. Point at the running stages, then at the three sections and the trace buttons.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briefing is a selection, not a summary of eight systems.
SHOW: scroll one briefing; hover a trace button; open the evidence 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key facts land on one page, in the order the conversation happens.
SHOW: open the SCEN-001 briefing and read the first two blocks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Two inputs the brief leaves out: news and the bank view. One is real, one is a declared mock.
SHOW: the provenance chips at the top of any briefing (Live · Simulated · Mock).
NOTE: news comes from public news feeds, filtered to the client's holdings.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work is in selecting what matters and showing where each statement comes from. The rules are deterministic; the LLM renderer is the plug-in point.
SHOW: open the 'What should the advisor do?' answer and its action list on a client with a rule breach.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One shared document feeds every output, so the briefing, the Q&amp;A and the one-pager stay consistent.
SHOW: the stage list on the running briefing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Every mock is a seam we can name; production replaces each one.
SHOW: the mock badge on the bank-view block inside the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Four bonus features, all shown in the live demo.
SHOW: External banks panel → ex-custody report → KPIs; then the Q&amp;A panel; then the one-pager; then the unseen-client 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[Introduce the team: names, roles, one line each.]
Placeholders: replace names, roles and photos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83080"/>
            <a:ext cx="256032" cy="25603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Ping to Pitch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37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 Assistant for URO Advisor Pro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UnRiskOmega AG  ·  START Global × Swiss AI Weeks 2026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prototype inside a mocked URO Advisor Pro, not the live environment.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78308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calls without warning. Preparation means eight systems.</a:t>
            </a:r>
            <a:endParaRPr lang="en-US" sz="2200" dirty="0"/>
          </a:p>
          <a:p>
            <a:pPr marL="254000" indent="-2540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exists, however distributed all over the place.</a:t>
            </a:r>
            <a:endParaRPr lang="en-US" sz="2200" dirty="0"/>
          </a:p>
          <a:p>
            <a:pPr marL="254000" indent="-2540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storyline by hand: 20–30 minutes (the brief's figure, not ours)</a:t>
            </a:r>
            <a:endParaRPr lang="en-US" sz="2200" dirty="0"/>
          </a:p>
          <a:p>
            <a:pPr marL="254000" indent="-2540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rarely have that time before the call.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systems behind one client call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0" y="205740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6784848" y="2322576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 txBox="1"/>
          <p:nvPr/>
        </p:nvSpPr>
        <p:spPr>
          <a:xfrm>
            <a:off x="7132320" y="20574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0" y="205740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9345168" y="2322576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 txBox="1"/>
          <p:nvPr/>
        </p:nvSpPr>
        <p:spPr>
          <a:xfrm>
            <a:off x="9692640" y="20574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0" y="297180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6784848" y="3236976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 txBox="1"/>
          <p:nvPr/>
        </p:nvSpPr>
        <p:spPr>
          <a:xfrm>
            <a:off x="7132320" y="29718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0" y="297180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9345168" y="3236976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 txBox="1"/>
          <p:nvPr/>
        </p:nvSpPr>
        <p:spPr>
          <a:xfrm>
            <a:off x="9692640" y="29718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0" y="388620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6784848" y="4151376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 txBox="1"/>
          <p:nvPr/>
        </p:nvSpPr>
        <p:spPr>
          <a:xfrm>
            <a:off x="7132320" y="38862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44000" y="388620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9345168" y="4151376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 txBox="1"/>
          <p:nvPr/>
        </p:nvSpPr>
        <p:spPr>
          <a:xfrm>
            <a:off x="9692640" y="38862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83680" y="480060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6784848" y="5065776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 txBox="1"/>
          <p:nvPr/>
        </p:nvSpPr>
        <p:spPr>
          <a:xfrm>
            <a:off x="7132320" y="48006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144000" y="480060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7" name="Shape 25"/>
          <p:cNvSpPr/>
          <p:nvPr/>
        </p:nvSpPr>
        <p:spPr>
          <a:xfrm>
            <a:off x="9345168" y="5065776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 txBox="1"/>
          <p:nvPr/>
        </p:nvSpPr>
        <p:spPr>
          <a:xfrm>
            <a:off x="9692640" y="48006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view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Ping to Pitch  ·  UnRiskOmega × START Global  ·  Swiss AI Weeks 2026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00055" y="6419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EA07B9D1-7B9E-11D0-39A7-317338D12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996" y="5068829"/>
            <a:ext cx="1884458" cy="16744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C39CB7C3-E2AC-A521-7CA0-605A90FCA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9683" y="256032"/>
            <a:ext cx="2133600" cy="3386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and complete user 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73736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opens a client or portfolio in the mocked URO Advisor Pro</a:t>
            </a:r>
            <a:endParaRPr lang="en-US" sz="2100" dirty="0"/>
          </a:p>
          <a:p>
            <a:pPr marL="254000" indent="-254000">
              <a:spcAft>
                <a:spcPts val="2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briefing” is the only entry point,                        in both views (the client view and the portfolio view)</a:t>
            </a:r>
            <a:endParaRPr lang="en-US" sz="2100" dirty="0"/>
          </a:p>
          <a:p>
            <a:pPr marL="254000" indent="-254000">
              <a:spcAft>
                <a:spcPts val="2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 run behind that click</a:t>
            </a:r>
            <a:endParaRPr lang="en-US" sz="2100" dirty="0"/>
          </a:p>
          <a:p>
            <a:pPr marL="254000" indent="-254000">
              <a:spcAft>
                <a:spcPts val="2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three sections </a:t>
            </a:r>
            <a:r>
              <a:rPr lang="de-CH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(Recent Development, Portfolio Health Check, Outlook &amp; Next Best Actions)</a:t>
            </a: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four answers </a:t>
            </a:r>
            <a:r>
              <a:rPr lang="de-CH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de-CH" sz="2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r>
              <a:rPr lang="de-CH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2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happened</a:t>
            </a:r>
            <a:r>
              <a:rPr lang="de-CH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</a:t>
            </a:r>
            <a:r>
              <a:rPr lang="de-CH" sz="2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r>
              <a:rPr lang="de-CH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de-CH" sz="2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r>
              <a:rPr lang="de-CH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2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r>
              <a:rPr lang="de-CH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2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</a:t>
            </a:r>
            <a:r>
              <a:rPr lang="de-CH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2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r>
              <a:rPr lang="de-CH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de-CH" sz="2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r>
              <a:rPr lang="de-CH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do)</a:t>
            </a: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evidence for every claim</a:t>
            </a:r>
          </a:p>
          <a:p>
            <a:pPr marL="254000" indent="-254000">
              <a:spcAft>
                <a:spcPts val="2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Q&amp;A and a one-pager reuse the same evidence as the briefing, no contradictions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0" y="1600200"/>
            <a:ext cx="4096512" cy="566928"/>
          </a:xfrm>
          <a:prstGeom prst="roundRect">
            <a:avLst>
              <a:gd name="adj" fmla="val 16129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7498080" y="1600200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briefing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0" y="2395728"/>
            <a:ext cx="4096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7635240" y="2478024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 txBox="1"/>
          <p:nvPr/>
        </p:nvSpPr>
        <p:spPr>
          <a:xfrm>
            <a:off x="7635240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23957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0" y="2962656"/>
            <a:ext cx="4096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7635240" y="3044952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 txBox="1"/>
          <p:nvPr/>
        </p:nvSpPr>
        <p:spPr>
          <a:xfrm>
            <a:off x="763524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962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0" y="3529584"/>
            <a:ext cx="4096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7635240" y="3611880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 txBox="1"/>
          <p:nvPr/>
        </p:nvSpPr>
        <p:spPr>
          <a:xfrm>
            <a:off x="763524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35295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0" y="4096512"/>
            <a:ext cx="4096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7635240" y="4178808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 txBox="1"/>
          <p:nvPr/>
        </p:nvSpPr>
        <p:spPr>
          <a:xfrm>
            <a:off x="763524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0965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0" y="4663440"/>
            <a:ext cx="4096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7635240" y="4745736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 txBox="1"/>
          <p:nvPr/>
        </p:nvSpPr>
        <p:spPr>
          <a:xfrm>
            <a:off x="7635240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view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0" y="5230368"/>
            <a:ext cx="4096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7" name="Shape 25"/>
          <p:cNvSpPr/>
          <p:nvPr/>
        </p:nvSpPr>
        <p:spPr>
          <a:xfrm>
            <a:off x="7635240" y="5312664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 txBox="1"/>
          <p:nvPr/>
        </p:nvSpPr>
        <p:spPr>
          <a:xfrm>
            <a:off x="7635240" y="5312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52303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98080" y="5797296"/>
            <a:ext cx="4096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1" name="Shape 29"/>
          <p:cNvSpPr/>
          <p:nvPr/>
        </p:nvSpPr>
        <p:spPr>
          <a:xfrm>
            <a:off x="7635240" y="5879592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 txBox="1"/>
          <p:nvPr/>
        </p:nvSpPr>
        <p:spPr>
          <a:xfrm>
            <a:off x="7635240" y="5879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5797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Ping to Pitch  ·  UnRiskOmega × START Global  ·  Swiss AI Weeks 2026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00055" y="6419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 11</a:t>
            </a:r>
            <a:endParaRPr lang="en-US" sz="1000" dirty="0"/>
          </a:p>
        </p:txBody>
      </p:sp>
      <p:cxnSp>
        <p:nvCxnSpPr>
          <p:cNvPr id="54" name="Verbinder: gekrümmt 53">
            <a:extLst>
              <a:ext uri="{FF2B5EF4-FFF2-40B4-BE49-F238E27FC236}">
                <a16:creationId xmlns:a16="http://schemas.microsoft.com/office/drawing/2014/main" id="{A483DFBB-1C51-83AF-F023-576A6E3E47A5}"/>
              </a:ext>
            </a:extLst>
          </p:cNvPr>
          <p:cNvCxnSpPr>
            <a:endCxn id="5" idx="1"/>
          </p:cNvCxnSpPr>
          <p:nvPr/>
        </p:nvCxnSpPr>
        <p:spPr>
          <a:xfrm flipV="1">
            <a:off x="4709160" y="1883664"/>
            <a:ext cx="2788920" cy="1937838"/>
          </a:xfrm>
          <a:prstGeom prst="curvedConnector3">
            <a:avLst>
              <a:gd name="adj1" fmla="val 89282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7" name="Grafik 56">
            <a:extLst>
              <a:ext uri="{FF2B5EF4-FFF2-40B4-BE49-F238E27FC236}">
                <a16:creationId xmlns:a16="http://schemas.microsoft.com/office/drawing/2014/main" id="{CD3220DD-2650-8B0E-5FA0-9B5964DE8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9683" y="256032"/>
            <a:ext cx="2133600" cy="338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60-second briefing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348477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868680" y="2011680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1325880" y="1600200"/>
            <a:ext cx="2570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Development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53458" y="1600200"/>
            <a:ext cx="348477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4627778" y="2011680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 txBox="1"/>
          <p:nvPr/>
        </p:nvSpPr>
        <p:spPr>
          <a:xfrm>
            <a:off x="5084978" y="1600200"/>
            <a:ext cx="2570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Check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112557" y="1600200"/>
            <a:ext cx="348477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8386877" y="2011680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 txBox="1"/>
          <p:nvPr/>
        </p:nvSpPr>
        <p:spPr>
          <a:xfrm>
            <a:off x="8844077" y="1600200"/>
            <a:ext cx="2570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&amp; Next Best Actions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246120"/>
            <a:ext cx="2579294" cy="502920"/>
          </a:xfrm>
          <a:prstGeom prst="roundRect">
            <a:avLst>
              <a:gd name="adj" fmla="val 49091"/>
            </a:avLst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 txBox="1"/>
          <p:nvPr/>
        </p:nvSpPr>
        <p:spPr>
          <a:xfrm>
            <a:off x="594360" y="324612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02254" y="3246120"/>
            <a:ext cx="2579294" cy="502920"/>
          </a:xfrm>
          <a:prstGeom prst="roundRect">
            <a:avLst>
              <a:gd name="adj" fmla="val 49091"/>
            </a:avLst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 txBox="1"/>
          <p:nvPr/>
        </p:nvSpPr>
        <p:spPr>
          <a:xfrm>
            <a:off x="3402254" y="324612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0148" y="3246120"/>
            <a:ext cx="2579294" cy="502920"/>
          </a:xfrm>
          <a:prstGeom prst="roundRect">
            <a:avLst>
              <a:gd name="adj" fmla="val 49091"/>
            </a:avLst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 txBox="1"/>
          <p:nvPr/>
        </p:nvSpPr>
        <p:spPr>
          <a:xfrm>
            <a:off x="6210148" y="324612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come next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18041" y="3246120"/>
            <a:ext cx="2579294" cy="502920"/>
          </a:xfrm>
          <a:prstGeom prst="roundRect">
            <a:avLst>
              <a:gd name="adj" fmla="val 49091"/>
            </a:avLst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 txBox="1"/>
          <p:nvPr/>
        </p:nvSpPr>
        <p:spPr>
          <a:xfrm>
            <a:off x="9018041" y="324612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1605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links to its data source; gaps are stated</a:t>
            </a:r>
            <a:endParaRPr lang="en-US" sz="19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Prioritised: 2–4 items that matter for this client (e.g. risk, concentration, recent performance, liquidity)</a:t>
            </a:r>
            <a:endParaRPr lang="en-US" sz="19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enough to read before picking up the phone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680960" y="4114800"/>
            <a:ext cx="391363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 txBox="1"/>
          <p:nvPr/>
        </p:nvSpPr>
        <p:spPr>
          <a:xfrm>
            <a:off x="7909560" y="4251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~210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4983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per briefing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0" y="4251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9784080" y="4983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time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Ping to Pitch  ·  UnRiskOmega × START Global  ·  Swiss AI Weeks 2026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500055" y="6419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0375ED8F-55ED-C553-36BB-562873B4F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547" y="5065775"/>
            <a:ext cx="1889981" cy="17134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987414DD-C333-721F-196B-4905782CF8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9683" y="256032"/>
            <a:ext cx="2133600" cy="338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briefing: Lena Vogt (SCEN-001)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from the brief: an unexpected call and a planned property purchase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ASML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3458" y="173736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 txBox="1"/>
          <p:nvPr/>
        </p:nvSpPr>
        <p:spPr>
          <a:xfrm>
            <a:off x="4627778" y="182880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627778" y="26974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Information Technology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12557" y="173736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 txBox="1"/>
          <p:nvPr/>
        </p:nvSpPr>
        <p:spPr>
          <a:xfrm>
            <a:off x="8386877" y="182880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26974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EUR, against a CHF base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3832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 txBox="1"/>
          <p:nvPr/>
        </p:nvSpPr>
        <p:spPr>
          <a:xfrm>
            <a:off x="868680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−11.90%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12 months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520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−16.51%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 months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3383280"/>
            <a:ext cx="524225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 txBox="1"/>
          <p:nvPr/>
        </p:nvSpPr>
        <p:spPr>
          <a:xfrm>
            <a:off x="662940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volatility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3520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 allows 7.5% volatility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4360" y="4937760"/>
            <a:ext cx="11002975" cy="960120"/>
          </a:xfrm>
          <a:prstGeom prst="roundRect">
            <a:avLst>
              <a:gd name="adj" fmla="val 1142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 txBox="1"/>
          <p:nvPr/>
        </p:nvSpPr>
        <p:spPr>
          <a:xfrm>
            <a:off x="960120" y="4937760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#1   </a:t>
            </a: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liquidity. Do not lock money into illiquid assets before the property decision.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Ping to Pitch  ·  UnRiskOmega × START Global  ·  Swiss AI Weeks 2026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00055" y="6419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5CF4CF44-77B1-8B20-3087-4E6F1E616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9683" y="256032"/>
            <a:ext cx="2133600" cy="338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3400" b="1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Data sources used: </a:t>
            </a:r>
            <a:r>
              <a:rPr lang="de-CH" dirty="0" err="1"/>
              <a:t>where</a:t>
            </a:r>
            <a:r>
              <a:rPr lang="de-CH" dirty="0"/>
              <a:t> the </a:t>
            </a:r>
            <a:r>
              <a:rPr lang="de-CH" dirty="0" err="1"/>
              <a:t>info</a:t>
            </a:r>
            <a:r>
              <a:rPr lang="de-CH" dirty="0"/>
              <a:t> </a:t>
            </a:r>
            <a:r>
              <a:rPr lang="de-CH" dirty="0" err="1"/>
              <a:t>about</a:t>
            </a:r>
            <a:r>
              <a:rPr lang="de-CH" dirty="0"/>
              <a:t> the </a:t>
            </a:r>
            <a:r>
              <a:rPr lang="de-CH" dirty="0" err="1"/>
              <a:t>client</a:t>
            </a:r>
            <a:r>
              <a:rPr lang="de-CH" dirty="0"/>
              <a:t> </a:t>
            </a:r>
            <a:r>
              <a:rPr lang="de-CH" dirty="0" err="1"/>
              <a:t>comes</a:t>
            </a:r>
            <a:r>
              <a:rPr lang="de-CH" dirty="0"/>
              <a:t> from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 UnRiskOmega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164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179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50324" y="2596896"/>
            <a:ext cx="2143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bundle: 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endParaRPr lang="en-US" sz="1400" dirty="0">
              <a:solidFill>
                <a:srgbClr val="5559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87040" y="1965960"/>
            <a:ext cx="2164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 txBox="1"/>
          <p:nvPr/>
        </p:nvSpPr>
        <p:spPr>
          <a:xfrm>
            <a:off x="3215640" y="2057400"/>
            <a:ext cx="179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15640" y="2770632"/>
            <a:ext cx="179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throughout all bundles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79720" y="1965960"/>
            <a:ext cx="2164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 txBox="1"/>
          <p:nvPr/>
        </p:nvSpPr>
        <p:spPr>
          <a:xfrm>
            <a:off x="5608320" y="2057400"/>
            <a:ext cx="179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608320" y="2770632"/>
            <a:ext cx="179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throughout all bundles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156591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 txBox="1"/>
          <p:nvPr/>
        </p:nvSpPr>
        <p:spPr>
          <a:xfrm>
            <a:off x="777240" y="3566160"/>
            <a:ext cx="12915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178808"/>
            <a:ext cx="1291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violations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88870" y="3474720"/>
            <a:ext cx="156591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 txBox="1"/>
          <p:nvPr/>
        </p:nvSpPr>
        <p:spPr>
          <a:xfrm>
            <a:off x="2571750" y="3566160"/>
            <a:ext cx="12915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571750" y="4178808"/>
            <a:ext cx="1291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83380" y="3474720"/>
            <a:ext cx="156591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 txBox="1"/>
          <p:nvPr/>
        </p:nvSpPr>
        <p:spPr>
          <a:xfrm>
            <a:off x="4366260" y="3566160"/>
            <a:ext cx="12915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4366260" y="4178808"/>
            <a:ext cx="1291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notes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77890" y="3474720"/>
            <a:ext cx="156591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 txBox="1"/>
          <p:nvPr/>
        </p:nvSpPr>
        <p:spPr>
          <a:xfrm>
            <a:off x="6160770" y="3566160"/>
            <a:ext cx="12915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48'101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160770" y="4178808"/>
            <a:ext cx="1291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mappings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98348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 txBox="1"/>
          <p:nvPr/>
        </p:nvSpPr>
        <p:spPr>
          <a:xfrm>
            <a:off x="868680" y="498348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by us, because the brief omits them: market news (live) and the bank view (declared mock).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55280" y="1600200"/>
            <a:ext cx="364205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 txBox="1"/>
          <p:nvPr/>
        </p:nvSpPr>
        <p:spPr>
          <a:xfrm>
            <a:off x="8183880" y="1783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news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545775" y="179222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4F2CF"/>
          </a:solidFill>
          <a:ln w="12700">
            <a:solidFill>
              <a:srgbClr val="E4F2C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 txBox="1"/>
          <p:nvPr/>
        </p:nvSpPr>
        <p:spPr>
          <a:xfrm>
            <a:off x="10545775" y="1792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6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2194560"/>
            <a:ext cx="3184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fetch, filtered to the client's holdings, cached.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955280" y="3154680"/>
            <a:ext cx="364205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3" name="Text 31"/>
          <p:cNvSpPr txBox="1"/>
          <p:nvPr/>
        </p:nvSpPr>
        <p:spPr>
          <a:xfrm>
            <a:off x="8183880" y="3337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CIO view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545775" y="334670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E6D2"/>
          </a:solidFill>
          <a:ln w="12700">
            <a:solidFill>
              <a:srgbClr val="FFE6D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Text 33"/>
          <p:cNvSpPr txBox="1"/>
          <p:nvPr/>
        </p:nvSpPr>
        <p:spPr>
          <a:xfrm>
            <a:off x="10545775" y="3346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3749040"/>
            <a:ext cx="3184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UBS CIO Market Outlook 2026, declared mock in payload and UI.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955280" y="4709160"/>
            <a:ext cx="364205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38" name="Text 36"/>
          <p:cNvSpPr txBox="1"/>
          <p:nvPr/>
        </p:nvSpPr>
        <p:spPr>
          <a:xfrm>
            <a:off x="8157362" y="482543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Ex-custody statements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562925" y="483902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0" name="Text 38"/>
          <p:cNvSpPr txBox="1"/>
          <p:nvPr/>
        </p:nvSpPr>
        <p:spPr>
          <a:xfrm>
            <a:off x="10562925" y="4840821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157362" y="5125902"/>
            <a:ext cx="3184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PDFs parsed to CHF 2'049'658.00, delta 0.00. </a:t>
            </a:r>
          </a:p>
          <a:p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PDF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outside the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r>
              <a:rPr lang="de-CH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de-CH" sz="14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400" dirty="0">
              <a:solidFill>
                <a:srgbClr val="5559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59436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Ping to Pitch  ·  UnRiskOmega × START Global  ·  Swiss AI Weeks 2026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500055" y="6419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3A35F7F2-9282-6A1D-373E-77AE522F133A}"/>
              </a:ext>
            </a:extLst>
          </p:cNvPr>
          <p:cNvSpPr txBox="1"/>
          <p:nvPr/>
        </p:nvSpPr>
        <p:spPr>
          <a:xfrm>
            <a:off x="3232318" y="1432036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b="1" dirty="0" err="1">
                <a:solidFill>
                  <a:schemeClr val="tx2">
                    <a:lumMod val="75000"/>
                  </a:schemeClr>
                </a:solidFill>
              </a:rPr>
              <a:t>What</a:t>
            </a:r>
            <a:r>
              <a:rPr lang="de-CH" b="1" dirty="0">
                <a:solidFill>
                  <a:schemeClr val="tx2">
                    <a:lumMod val="75000"/>
                  </a:schemeClr>
                </a:solidFill>
              </a:rPr>
              <a:t> the </a:t>
            </a:r>
            <a:r>
              <a:rPr lang="de-CH" b="1" dirty="0" err="1">
                <a:solidFill>
                  <a:schemeClr val="tx2">
                    <a:lumMod val="75000"/>
                  </a:schemeClr>
                </a:solidFill>
              </a:rPr>
              <a:t>bank</a:t>
            </a:r>
            <a:r>
              <a:rPr lang="de-CH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de-CH" b="1" dirty="0" err="1">
                <a:solidFill>
                  <a:schemeClr val="tx2">
                    <a:lumMod val="75000"/>
                  </a:schemeClr>
                </a:solidFill>
              </a:rPr>
              <a:t>gave</a:t>
            </a:r>
            <a:r>
              <a:rPr lang="de-CH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de-CH" b="1" dirty="0" err="1">
                <a:solidFill>
                  <a:schemeClr val="tx2">
                    <a:lumMod val="75000"/>
                  </a:schemeClr>
                </a:solidFill>
              </a:rPr>
              <a:t>us</a:t>
            </a:r>
            <a:endParaRPr lang="de-CH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0" name="Geschweifte Klammer links 49">
            <a:extLst>
              <a:ext uri="{FF2B5EF4-FFF2-40B4-BE49-F238E27FC236}">
                <a16:creationId xmlns:a16="http://schemas.microsoft.com/office/drawing/2014/main" id="{E04CC7D1-034D-5972-67F2-385ED29D7C91}"/>
              </a:ext>
            </a:extLst>
          </p:cNvPr>
          <p:cNvSpPr/>
          <p:nvPr/>
        </p:nvSpPr>
        <p:spPr>
          <a:xfrm>
            <a:off x="7528255" y="1874520"/>
            <a:ext cx="335585" cy="4069080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Freihandform: Form 50">
            <a:extLst>
              <a:ext uri="{FF2B5EF4-FFF2-40B4-BE49-F238E27FC236}">
                <a16:creationId xmlns:a16="http://schemas.microsoft.com/office/drawing/2014/main" id="{0C8AABFC-438E-C6DC-BB0A-1758DF0E63B9}"/>
              </a:ext>
            </a:extLst>
          </p:cNvPr>
          <p:cNvSpPr/>
          <p:nvPr/>
        </p:nvSpPr>
        <p:spPr>
          <a:xfrm>
            <a:off x="7248225" y="3923930"/>
            <a:ext cx="280039" cy="1803000"/>
          </a:xfrm>
          <a:custGeom>
            <a:avLst/>
            <a:gdLst>
              <a:gd name="csX0" fmla="*/ 280039 w 280039"/>
              <a:gd name="csY0" fmla="*/ 0 h 1803000"/>
              <a:gd name="csX1" fmla="*/ 182385 w 280039"/>
              <a:gd name="csY1" fmla="*/ 1455938 h 1803000"/>
              <a:gd name="csX2" fmla="*/ 22587 w 280039"/>
              <a:gd name="csY2" fmla="*/ 1766656 h 1803000"/>
              <a:gd name="csX3" fmla="*/ 4831 w 280039"/>
              <a:gd name="csY3" fmla="*/ 1784412 h 180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0039" h="1803000">
                <a:moveTo>
                  <a:pt x="280039" y="0"/>
                </a:moveTo>
                <a:cubicBezTo>
                  <a:pt x="252666" y="580747"/>
                  <a:pt x="225294" y="1161495"/>
                  <a:pt x="182385" y="1455938"/>
                </a:cubicBezTo>
                <a:cubicBezTo>
                  <a:pt x="139476" y="1750381"/>
                  <a:pt x="52179" y="1711910"/>
                  <a:pt x="22587" y="1766656"/>
                </a:cubicBezTo>
                <a:cubicBezTo>
                  <a:pt x="-7005" y="1821402"/>
                  <a:pt x="-1087" y="1802907"/>
                  <a:pt x="4831" y="1784412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095B8618-81C5-431F-A0C7-1495CD1E8B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9683" y="256032"/>
            <a:ext cx="2133600" cy="338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3549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CH" sz="3600" b="1" dirty="0">
                <a:solidFill>
                  <a:schemeClr val="tx2">
                    <a:lumMod val="75000"/>
                  </a:schemeClr>
                </a:solidFill>
              </a:rPr>
              <a:t>How </a:t>
            </a:r>
            <a:r>
              <a:rPr lang="de-CH" sz="3600" b="1" dirty="0" err="1">
                <a:solidFill>
                  <a:schemeClr val="tx2">
                    <a:lumMod val="75000"/>
                  </a:schemeClr>
                </a:solidFill>
              </a:rPr>
              <a:t>does</a:t>
            </a:r>
            <a:r>
              <a:rPr lang="de-CH" sz="3600" b="1" dirty="0">
                <a:solidFill>
                  <a:schemeClr val="tx2">
                    <a:lumMod val="75000"/>
                  </a:schemeClr>
                </a:solidFill>
              </a:rPr>
              <a:t> the </a:t>
            </a:r>
            <a:r>
              <a:rPr lang="de-CH" sz="3600" b="1" dirty="0" err="1">
                <a:solidFill>
                  <a:schemeClr val="tx2">
                    <a:lumMod val="75000"/>
                  </a:schemeClr>
                </a:solidFill>
              </a:rPr>
              <a:t>system</a:t>
            </a:r>
            <a:r>
              <a:rPr lang="de-CH" sz="3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de-CH" sz="3600" b="1" dirty="0" err="1">
                <a:solidFill>
                  <a:schemeClr val="tx2">
                    <a:lumMod val="75000"/>
                  </a:schemeClr>
                </a:solidFill>
              </a:rPr>
              <a:t>decide</a:t>
            </a:r>
            <a:r>
              <a:rPr lang="de-CH" sz="3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de-CH" sz="3600" b="1" dirty="0" err="1">
                <a:solidFill>
                  <a:schemeClr val="tx2">
                    <a:lumMod val="75000"/>
                  </a:schemeClr>
                </a:solidFill>
              </a:rPr>
              <a:t>what</a:t>
            </a:r>
            <a:r>
              <a:rPr lang="de-CH" sz="3600" b="1" dirty="0">
                <a:solidFill>
                  <a:schemeClr val="tx2">
                    <a:lumMod val="75000"/>
                  </a:schemeClr>
                </a:solidFill>
              </a:rPr>
              <a:t> to </a:t>
            </a:r>
            <a:r>
              <a:rPr lang="de-CH" sz="3600" b="1" dirty="0" err="1">
                <a:solidFill>
                  <a:schemeClr val="tx2">
                    <a:lumMod val="75000"/>
                  </a:schemeClr>
                </a:solidFill>
              </a:rPr>
              <a:t>tell</a:t>
            </a:r>
            <a:r>
              <a:rPr lang="de-CH" sz="3600" b="1" dirty="0">
                <a:solidFill>
                  <a:schemeClr val="tx2">
                    <a:lumMod val="75000"/>
                  </a:schemeClr>
                </a:solidFill>
              </a:rPr>
              <a:t> the </a:t>
            </a:r>
            <a:r>
              <a:rPr lang="de-CH" sz="3600" b="1" dirty="0" err="1">
                <a:solidFill>
                  <a:schemeClr val="tx2">
                    <a:lumMod val="75000"/>
                  </a:schemeClr>
                </a:solidFill>
              </a:rPr>
              <a:t>advisor</a:t>
            </a:r>
            <a:r>
              <a:rPr lang="de-CH" sz="3600" b="1" dirty="0">
                <a:solidFill>
                  <a:schemeClr val="tx2">
                    <a:lumMod val="75000"/>
                  </a:schemeClr>
                </a:solidFill>
              </a:rPr>
              <a:t>, and </a:t>
            </a:r>
            <a:r>
              <a:rPr lang="de-CH" sz="3600" b="1" dirty="0" err="1">
                <a:solidFill>
                  <a:schemeClr val="tx2">
                    <a:lumMod val="75000"/>
                  </a:schemeClr>
                </a:solidFill>
              </a:rPr>
              <a:t>can</a:t>
            </a:r>
            <a:r>
              <a:rPr lang="de-CH" sz="3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de-CH" sz="3600" b="1" dirty="0" err="1">
                <a:solidFill>
                  <a:schemeClr val="tx2">
                    <a:lumMod val="75000"/>
                  </a:schemeClr>
                </a:solidFill>
              </a:rPr>
              <a:t>you</a:t>
            </a:r>
            <a:r>
              <a:rPr lang="de-CH" sz="3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de-CH" sz="3600" b="1" dirty="0" err="1">
                <a:solidFill>
                  <a:schemeClr val="tx2">
                    <a:lumMod val="75000"/>
                  </a:schemeClr>
                </a:solidFill>
              </a:rPr>
              <a:t>trust</a:t>
            </a:r>
            <a:r>
              <a:rPr lang="de-CH" sz="3600" b="1" dirty="0">
                <a:solidFill>
                  <a:schemeClr val="tx2">
                    <a:lumMod val="75000"/>
                  </a:schemeClr>
                </a:solidFill>
              </a:rPr>
              <a:t> it?</a:t>
            </a:r>
            <a:endParaRPr lang="en-US" sz="3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94360" y="173736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finding types decide what deserves attention</a:t>
            </a:r>
            <a:endParaRPr lang="en-US" sz="20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carries label, value, source and path</a:t>
            </a:r>
            <a:endParaRPr lang="en-US" sz="20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contribution only: no cost basis, so no return attribution</a:t>
            </a:r>
            <a:endParaRPr lang="en-US" sz="20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 ranked actions, each citing its findings</a:t>
            </a:r>
            <a:endParaRPr lang="en-US" sz="20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today; the LLM renderer is the plug-in point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1600200"/>
            <a:ext cx="4279392" cy="4343400"/>
          </a:xfrm>
          <a:prstGeom prst="roundRect">
            <a:avLst>
              <a:gd name="adj" fmla="val 2991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7589520" y="17373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types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35204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F4568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 txBox="1"/>
          <p:nvPr/>
        </p:nvSpPr>
        <p:spPr>
          <a:xfrm>
            <a:off x="7589520" y="35204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drift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509760" y="35204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F4568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 txBox="1"/>
          <p:nvPr/>
        </p:nvSpPr>
        <p:spPr>
          <a:xfrm>
            <a:off x="9509760" y="35204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40233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F4568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 txBox="1"/>
          <p:nvPr/>
        </p:nvSpPr>
        <p:spPr>
          <a:xfrm>
            <a:off x="7589520" y="4023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09760" y="40233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F4568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 txBox="1"/>
          <p:nvPr/>
        </p:nvSpPr>
        <p:spPr>
          <a:xfrm>
            <a:off x="9509760" y="4023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452628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F4568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 txBox="1"/>
          <p:nvPr/>
        </p:nvSpPr>
        <p:spPr>
          <a:xfrm>
            <a:off x="7589520" y="45262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09760" y="452628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F4568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 txBox="1"/>
          <p:nvPr/>
        </p:nvSpPr>
        <p:spPr>
          <a:xfrm>
            <a:off x="9509760" y="45262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5029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F4568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 txBox="1"/>
          <p:nvPr/>
        </p:nvSpPr>
        <p:spPr>
          <a:xfrm>
            <a:off x="7589520" y="5029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Ping to Pitch  ·  UnRiskOmega × START Global  ·  Swiss AI Weeks 2026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500055" y="6419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3CA8A075-7A62-7892-39C0-7EBF4A0B29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9683" y="256032"/>
            <a:ext cx="2133600" cy="3386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737360"/>
            <a:ext cx="190195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URO Advisor Pro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51176" y="2478024"/>
            <a:ext cx="256032" cy="256032"/>
          </a:xfrm>
          <a:prstGeom prst="rightArrow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2862072" y="1737360"/>
            <a:ext cx="190195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 txBox="1"/>
          <p:nvPr/>
        </p:nvSpPr>
        <p:spPr>
          <a:xfrm>
            <a:off x="2999232" y="196596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API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27432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18888" y="2478024"/>
            <a:ext cx="256032" cy="256032"/>
          </a:xfrm>
          <a:prstGeom prst="rightArrow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5129784" y="1737360"/>
            <a:ext cx="190195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 txBox="1"/>
          <p:nvPr/>
        </p:nvSpPr>
        <p:spPr>
          <a:xfrm>
            <a:off x="5266944" y="196596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pipeline stages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66944" y="27432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to compose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478024"/>
            <a:ext cx="256032" cy="256032"/>
          </a:xfrm>
          <a:prstGeom prst="rightArrow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7397496" y="1737360"/>
            <a:ext cx="1901952" cy="1737360"/>
          </a:xfrm>
          <a:prstGeom prst="roundRect">
            <a:avLst>
              <a:gd name="adj" fmla="val 6316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 txBox="1"/>
          <p:nvPr/>
        </p:nvSpPr>
        <p:spPr>
          <a:xfrm>
            <a:off x="7534656" y="196596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BriefingFacts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534656" y="27432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keystone document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54312" y="2478024"/>
            <a:ext cx="256032" cy="256032"/>
          </a:xfrm>
          <a:prstGeom prst="rightArrow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9665208" y="1737360"/>
            <a:ext cx="190195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 txBox="1"/>
          <p:nvPr/>
        </p:nvSpPr>
        <p:spPr>
          <a:xfrm>
            <a:off x="9802368" y="196596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7432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and DE, same numbers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BriefingFacts is produced once and used by every renderer</a:t>
            </a:r>
            <a:endParaRPr lang="en-US" sz="21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is reported as a gap, not an error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EN/DE with identical numbers and findings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Ping to Pitch  ·  UnRiskOmega × START Global  ·  Swiss AI Weeks 2026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00055" y="6419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DC58C8F7-9936-A816-F7F7-8EA714B233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9683" y="256032"/>
            <a:ext cx="2133600" cy="3386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vs production integrations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53643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E6D2"/>
          </a:solidFill>
          <a:ln w="12700">
            <a:solidFill>
              <a:srgbClr val="FFE6D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 Advisor Pro chrome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synthetic clients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Bank/CIO view, declared in the payload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33008" y="1600200"/>
            <a:ext cx="53643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6507328" y="18288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4F2CF"/>
          </a:solidFill>
          <a:ln w="12700">
            <a:solidFill>
              <a:srgbClr val="E4F2C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 txBox="1"/>
          <p:nvPr/>
        </p:nvSpPr>
        <p:spPr>
          <a:xfrm>
            <a:off x="6507328" y="18288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6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37744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instruments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news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portfolio mathematics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77640"/>
            <a:ext cx="11002975" cy="1783080"/>
          </a:xfrm>
          <a:prstGeom prst="roundRect">
            <a:avLst>
              <a:gd name="adj" fmla="val 717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 txBox="1"/>
          <p:nvPr/>
        </p:nvSpPr>
        <p:spPr>
          <a:xfrm>
            <a:off x="96012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replaces each mock, one-for-one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526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 APIs · bank CRM · licensed market data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adds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526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news feeds · internal CIO publications · the bank's rule engine as a service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prototype touches the live URO environment.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Ping to Pitch  ·  UnRiskOmega × START Global  ·  Swiss AI Weeks 2026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500055" y="6419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6E09BC7-B8D7-6D7C-7710-6F6F236D3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9683" y="256032"/>
            <a:ext cx="2133600" cy="338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features completed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536432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 txBox="1"/>
          <p:nvPr/>
        </p:nvSpPr>
        <p:spPr>
          <a:xfrm>
            <a:off x="914400" y="18745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Ex-custody PDF import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portfolio behaves like a native one.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2'049'658.00 · delta 0.00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600200"/>
            <a:ext cx="536432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 txBox="1"/>
          <p:nvPr/>
        </p:nvSpPr>
        <p:spPr>
          <a:xfrm>
            <a:off x="6553048" y="18745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Q&amp;A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4688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same evidence; says “unavailable” when it must.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977640"/>
            <a:ext cx="536432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 txBox="1"/>
          <p:nvPr/>
        </p:nvSpPr>
        <p:spPr>
          <a:xfrm>
            <a:off x="914400" y="425196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one-pager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Client-ready sheet with the same traceability, made for the meeting.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33008" y="3977640"/>
            <a:ext cx="536432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 txBox="1"/>
          <p:nvPr/>
        </p:nvSpPr>
        <p:spPr>
          <a:xfrm>
            <a:off x="6553048" y="425196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Unseen-client drill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client file uploads, validates and briefs, with no code change.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Ping to Pitch  ·  UnRiskOmega × START Global  ·  Swiss AI Weeks 2026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500055" y="6419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38C35AE-6DA1-576C-F6DE-1DF708EB0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9683" y="256032"/>
            <a:ext cx="2133600" cy="3386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413684" y="1737360"/>
            <a:ext cx="2545004" cy="3429000"/>
          </a:xfrm>
          <a:prstGeom prst="roundRect">
            <a:avLst>
              <a:gd name="adj" fmla="val 431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4000386" y="2011680"/>
            <a:ext cx="1371600" cy="1371600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 txBox="1"/>
          <p:nvPr/>
        </p:nvSpPr>
        <p:spPr>
          <a:xfrm>
            <a:off x="4000386" y="2011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6564" y="361188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Giray Unlu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642284" y="4069080"/>
            <a:ext cx="2087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AI</a:t>
            </a:r>
          </a:p>
          <a:p>
            <a:pPr algn="ctr"/>
            <a:r>
              <a:rPr lang="en-US" sz="13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girayn5@gmail.com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33008" y="1737360"/>
            <a:ext cx="2545004" cy="3429000"/>
          </a:xfrm>
          <a:prstGeom prst="roundRect">
            <a:avLst>
              <a:gd name="adj" fmla="val 431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6819709" y="2011680"/>
            <a:ext cx="1371600" cy="1371600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 txBox="1"/>
          <p:nvPr/>
        </p:nvSpPr>
        <p:spPr>
          <a:xfrm>
            <a:off x="6819709" y="2011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15888" y="361188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Katrin Tosheva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507328" y="3931920"/>
            <a:ext cx="2087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Economics</a:t>
            </a:r>
          </a:p>
          <a:p>
            <a:pPr algn="ctr"/>
            <a:r>
              <a:rPr lang="en-US" sz="13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Katrinalexandrova.tosheva</a:t>
            </a:r>
            <a:r>
              <a:rPr lang="en-US" sz="13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@student.unisg.ch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4864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 err="1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FinSights</a:t>
            </a:r>
            <a:r>
              <a:rPr lang="en-US" sz="17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Labs                                                   JKU Linz                               University of St. Gallen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Ping to Pitch  ·  UnRiskOmega × START Global  ·  Swiss AI Weeks 2026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500055" y="6419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 11</a:t>
            </a:r>
            <a:endParaRPr lang="en-US" sz="1000" dirty="0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1B38A1F-0026-36EF-EB3C-FC4353584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072" y="2057400"/>
            <a:ext cx="1414914" cy="1371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E96D7257-27FB-ABC1-161D-08BB5292F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709" y="2057409"/>
            <a:ext cx="1371600" cy="13695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304A0D04-940A-3828-886E-1CE7535355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9683" y="256032"/>
            <a:ext cx="2133600" cy="338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A8B9BD-2D14-42A0-A9D8-21699E1205E1}">
  <we:reference id="026e7b2b-fa4d-4fe0-bf3b-b965f6f25bee" version="1.0.0.76" store="EXCatalog" storeType="EXCatalog"/>
  <we:alternateReferences>
    <we:reference id="WA200000565" version="1.0.0.76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1443</Words>
  <Application>Microsoft Office PowerPoint</Application>
  <PresentationFormat>Breitbild</PresentationFormat>
  <Paragraphs>204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Ping to Pitch — AI Briefing Assistant</dc:title>
  <dc:subject>PptxGenJS Presentation</dc:subject>
  <dc:creator>UnRiskOmega × START Global — Swiss AI Weeks 2026</dc:creator>
  <cp:lastModifiedBy>Tosheva, KatrinAlexandrova</cp:lastModifiedBy>
  <cp:revision>2</cp:revision>
  <dcterms:created xsi:type="dcterms:W3CDTF">2026-09-19T10:28:04Z</dcterms:created>
  <dcterms:modified xsi:type="dcterms:W3CDTF">2026-09-19T12:56:53Z</dcterms:modified>
</cp:coreProperties>
</file>